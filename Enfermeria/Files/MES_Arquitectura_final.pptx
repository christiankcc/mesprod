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926080" cy="292608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>
            <a:solidFill>
              <a:srgbClr val="818CF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SISTEMA MES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Fullstack del Sistema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2743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Backend  ·  Base de Datos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Arquitectura Fullstack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— Manufacturing Execution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0" y="1005840"/>
            <a:ext cx="1463040" cy="4754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0" y="1005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481328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755648"/>
            <a:ext cx="6080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175564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11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Frontend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91640" y="2414016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578608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5176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257860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HTML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91640" y="2898648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40080" y="3063240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363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70432" y="306324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CSS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691640" y="3383280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40080" y="3547872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62102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432" y="354787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JavaScript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691640" y="3867912"/>
            <a:ext cx="0" cy="16459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640080" y="4032504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105656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70432" y="4032504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Bootstrap 5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754880" y="175564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566160" y="2011680"/>
            <a:ext cx="237744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3566160" y="2011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Backend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754880" y="2414016"/>
            <a:ext cx="0" cy="164592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3703320" y="2578608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912" y="265176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233672" y="257860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PHP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772400" y="1755648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583680" y="2011680"/>
            <a:ext cx="23774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6583680" y="20116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Servidor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7772400" y="2414016"/>
            <a:ext cx="0" cy="164592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9" name="Shape 32"/>
          <p:cNvSpPr/>
          <p:nvPr/>
        </p:nvSpPr>
        <p:spPr>
          <a:xfrm>
            <a:off x="6720840" y="2578608"/>
            <a:ext cx="2103120" cy="420624"/>
          </a:xfrm>
          <a:prstGeom prst="rect">
            <a:avLst/>
          </a:prstGeom>
          <a:solidFill>
            <a:srgbClr val="26334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2651760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251192" y="2578608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SQL Server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18304"/>
            <a:ext cx="256032" cy="25603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77240" y="4663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JavaScript — Comunicación entre el Frontend (página web) y el Backend (PHP / Base de Datos)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Capa de presentación e interacción con el usuario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E34F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64592" cy="1371600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2471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1527048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Estructura y contenido de las páginas del sistema MES. Define formularios, tablas y vistas de producción.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4114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572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164592" cy="1371600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7919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" y="3081528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Estilos visuales, colores corporativos, tipografía y diseño responsivo de la interfaz.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4114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F7DF1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64592" cy="13716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12471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10912" y="1527048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Lógica del cliente, validaciones, interactividad y comunicación AJAX con el backend PHP.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411480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7952B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06040"/>
            <a:ext cx="164592" cy="1371600"/>
          </a:xfrm>
          <a:prstGeom prst="rect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679192"/>
            <a:ext cx="3767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Bootstrap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10912" y="3081528"/>
            <a:ext cx="3767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Framework CSS para componentes UI responsivos: tablas, modales, navegación y formularios.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Backend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Capa de lógica de negocio y procesamiento del servidor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01168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78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PHP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Lenguaje del lado del servidor que procesa las solicitudes del sistema MES.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Recibe peticiones AJAX desde JavaScript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Ejecuta consultas a SQL Server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Devuelve respuestas en formato JSON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Gestiona sesiones y autenticación de usuarios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8412480" cy="1188720"/>
          </a:xfrm>
          <a:prstGeom prst="rect">
            <a:avLst/>
          </a:prstGeom>
          <a:solidFill>
            <a:srgbClr val="263348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201168" cy="1188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72491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JavaScript — Puente de Comunicación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Actúa como intermediario entre la interfaz del usuario y el backend PHP, enviando y recibiendo datos mediante peticiones AJAX / Fetch API sin recargar la página.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17373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69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Usuario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(Browser)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441198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27024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4069080"/>
            <a:ext cx="1737360" cy="6858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4069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JavaScript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(AJAX)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41198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27024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4069080"/>
            <a:ext cx="1737360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4069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PHP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(Servidor)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41198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270248"/>
            <a:ext cx="137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29400" y="4069080"/>
            <a:ext cx="173736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29400" y="4069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SQL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(BD)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Servidor &amp; Base de Datos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Capa de persistencia y gestión de datos del sistema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01168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0789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Microsoft SQL Server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1508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Motor de base de datos relacional que almacena toda la información del sistema MES.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Almacenamiento de órdenes de producción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Registro de materiales e inventario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828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Historial de procesos de manufactura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</a:rPr>
              <a:t>Datos de máquinas y operadores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578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Flujo de Datos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2651760" cy="1645920"/>
          </a:xfrm>
          <a:prstGeom prst="rect">
            <a:avLst/>
          </a:prstGeom>
          <a:solidFill>
            <a:srgbClr val="26334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44368"/>
            <a:ext cx="265176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Consultas SELECT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337560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PHP ejecuta queries para recuperar datos de producción y los devuelve a la interfaz vía JSON.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944368"/>
            <a:ext cx="2651760" cy="1645920"/>
          </a:xfrm>
          <a:prstGeom prst="rect">
            <a:avLst/>
          </a:prstGeom>
          <a:solidFill>
            <a:srgbClr val="26334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944368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INSERT / UPDATE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3337560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Registro de nuevas órdenes, actualizaciones de estado y movimientos de inventario en tiempo real.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944368"/>
            <a:ext cx="2651760" cy="1645920"/>
          </a:xfrm>
          <a:prstGeom prst="rect">
            <a:avLst/>
          </a:prstGeom>
          <a:solidFill>
            <a:srgbClr val="263348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944368"/>
            <a:ext cx="265176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9443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Procedimientos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505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Lógica compleja de manufactura encapsulada en stored procedures y vistas SQL.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Resumen de la Arquitectura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Stack tecnológico del Sistema MES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4630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2435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HTML · CSS · JavaScript · Bootstrap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15727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Interfaz de usuario responsiva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1353312"/>
            <a:ext cx="1280160" cy="42062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3533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Frontend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03120"/>
            <a:ext cx="1463040" cy="7498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031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Comunicación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5740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JavaScript (AJAX / Fetch)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4871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Puente cliente ↔ servidor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2267712"/>
            <a:ext cx="1280160" cy="420624"/>
          </a:xfrm>
          <a:prstGeom prst="rect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22677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Middleware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146304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57400" y="3072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PHP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34015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Lógica de negocio y API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23760" y="3182112"/>
            <a:ext cx="1280160" cy="420624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1821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6F1"/>
                </a:solidFill>
              </a:rPr>
              <a:t>Backend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31920"/>
            <a:ext cx="146304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3192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Servidor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57400" y="39867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Microsoft SQL Server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57400" y="43159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Persistencia de datos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23760" y="4096512"/>
            <a:ext cx="1280160" cy="42062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09651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Database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Comunicación de Servidores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Arquitectura de red del sistema 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686800" cy="2331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146304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RED PRINCIPAL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42816" y="1170432"/>
            <a:ext cx="658368" cy="749808"/>
          </a:xfrm>
          <a:prstGeom prst="rect">
            <a:avLst/>
          </a:prstGeom>
          <a:solidFill>
            <a:srgbClr val="1A3A5C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1688" y="1261872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51376" y="17282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</a:rPr>
              <a:t>Servidor Central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51376" y="195681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Core MES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005840" y="1170432"/>
            <a:ext cx="658368" cy="749808"/>
          </a:xfrm>
          <a:prstGeom prst="rect">
            <a:avLst/>
          </a:prstGeom>
          <a:solidFill>
            <a:srgbClr val="263348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2618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16550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Servidor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914400" y="1883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1335024" y="1545336"/>
            <a:ext cx="3236976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  <a:headEnd type="none"/>
            <a:tailEnd type="none"/>
          </a:ln>
        </p:spPr>
      </p:sp>
      <p:sp>
        <p:nvSpPr>
          <p:cNvPr id="17" name="Shape 13"/>
          <p:cNvSpPr/>
          <p:nvPr/>
        </p:nvSpPr>
        <p:spPr>
          <a:xfrm>
            <a:off x="1280160" y="1490472"/>
            <a:ext cx="109728" cy="10972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63240" y="1170432"/>
            <a:ext cx="658368" cy="749808"/>
          </a:xfrm>
          <a:prstGeom prst="rect">
            <a:avLst/>
          </a:prstGeom>
          <a:solidFill>
            <a:srgbClr val="263348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2618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71800" y="16550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Servidor 2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971800" y="1883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Calidad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392424" y="1545336"/>
            <a:ext cx="1179576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  <a:headEnd type="none"/>
            <a:tailEnd type="none"/>
          </a:ln>
        </p:spPr>
      </p:sp>
      <p:sp>
        <p:nvSpPr>
          <p:cNvPr id="23" name="Shape 18"/>
          <p:cNvSpPr/>
          <p:nvPr/>
        </p:nvSpPr>
        <p:spPr>
          <a:xfrm>
            <a:off x="3337560" y="1490472"/>
            <a:ext cx="109728" cy="10972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92240" y="1170432"/>
            <a:ext cx="658368" cy="749808"/>
          </a:xfrm>
          <a:prstGeom prst="rect">
            <a:avLst/>
          </a:prstGeom>
          <a:solidFill>
            <a:srgbClr val="263348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12618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0" y="16550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Servidor 3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400800" y="1883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Logística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572000" y="1545336"/>
            <a:ext cx="2249424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  <a:headEnd type="none"/>
            <a:tailEnd type="none"/>
          </a:ln>
        </p:spPr>
      </p:sp>
      <p:sp>
        <p:nvSpPr>
          <p:cNvPr id="29" name="Shape 23"/>
          <p:cNvSpPr/>
          <p:nvPr/>
        </p:nvSpPr>
        <p:spPr>
          <a:xfrm>
            <a:off x="6766560" y="1490472"/>
            <a:ext cx="109728" cy="109728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07992" y="1481328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269480" y="1170432"/>
            <a:ext cx="658368" cy="749808"/>
          </a:xfrm>
          <a:prstGeom prst="rect">
            <a:avLst/>
          </a:prstGeom>
          <a:solidFill>
            <a:srgbClr val="263348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261872"/>
            <a:ext cx="347472" cy="3474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78040" y="165506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Base de Datos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7178040" y="1883664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SQL Server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4572000" y="1545336"/>
            <a:ext cx="302666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headEnd type="none"/>
            <a:tailEnd type="none"/>
          </a:ln>
        </p:spPr>
      </p:sp>
      <p:sp>
        <p:nvSpPr>
          <p:cNvPr id="36" name="Shape 29"/>
          <p:cNvSpPr/>
          <p:nvPr/>
        </p:nvSpPr>
        <p:spPr>
          <a:xfrm>
            <a:off x="7543800" y="149047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572000" y="1920240"/>
            <a:ext cx="0" cy="1389888"/>
          </a:xfrm>
          <a:prstGeom prst="line">
            <a:avLst/>
          </a:prstGeom>
          <a:noFill/>
          <a:ln w="25400">
            <a:solidFill>
              <a:srgbClr val="333333"/>
            </a:solidFill>
            <a:prstDash val="sysDot"/>
          </a:ln>
        </p:spPr>
      </p:sp>
      <p:sp>
        <p:nvSpPr>
          <p:cNvPr id="38" name="Shape 31"/>
          <p:cNvSpPr/>
          <p:nvPr/>
        </p:nvSpPr>
        <p:spPr>
          <a:xfrm>
            <a:off x="4517136" y="3273552"/>
            <a:ext cx="109728" cy="10972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663440" y="2103120"/>
            <a:ext cx="1188720" cy="237744"/>
          </a:xfrm>
          <a:prstGeom prst="rect">
            <a:avLst/>
          </a:prstGeom>
          <a:solidFill>
            <a:srgbClr val="2633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66344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Enlace de Red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228600" y="3310128"/>
            <a:ext cx="8686800" cy="1627632"/>
          </a:xfrm>
          <a:prstGeom prst="rect">
            <a:avLst/>
          </a:prstGeom>
          <a:solidFill>
            <a:srgbClr val="1A1F2E"/>
          </a:solidFill>
          <a:ln w="19050">
            <a:solidFill>
              <a:srgbClr val="333333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228600" y="3310128"/>
            <a:ext cx="1508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</a:rPr>
              <a:t>RED DE MÁQUINAS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242816" y="3611880"/>
            <a:ext cx="658368" cy="749808"/>
          </a:xfrm>
          <a:prstGeom prst="rect">
            <a:avLst/>
          </a:prstGeom>
          <a:solidFill>
            <a:srgbClr val="1A2E20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703320"/>
            <a:ext cx="365760" cy="36576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151376" y="41148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Switch Red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4151376" y="43434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Máquinas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4507992" y="3922776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31520" y="3611880"/>
            <a:ext cx="658368" cy="749808"/>
          </a:xfrm>
          <a:prstGeom prst="rect">
            <a:avLst/>
          </a:prstGeom>
          <a:solidFill>
            <a:srgbClr val="2A1F10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3703320"/>
            <a:ext cx="365760" cy="36576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0080" y="41148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Máquina 1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640080" y="43434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Extracción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1060704" y="3986784"/>
            <a:ext cx="3511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54" name="Shape 45"/>
          <p:cNvSpPr/>
          <p:nvPr/>
        </p:nvSpPr>
        <p:spPr>
          <a:xfrm>
            <a:off x="1014984" y="394106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2651760" y="3611880"/>
            <a:ext cx="658368" cy="749808"/>
          </a:xfrm>
          <a:prstGeom prst="rect">
            <a:avLst/>
          </a:prstGeom>
          <a:solidFill>
            <a:srgbClr val="2A1F10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8064" y="3703320"/>
            <a:ext cx="365760" cy="36576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2560320" y="41148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Máquina 2</a:t>
            </a:r>
            <a:endParaRPr lang="en-US" sz="950" dirty="0"/>
          </a:p>
        </p:txBody>
      </p:sp>
      <p:sp>
        <p:nvSpPr>
          <p:cNvPr id="58" name="Text 48"/>
          <p:cNvSpPr/>
          <p:nvPr/>
        </p:nvSpPr>
        <p:spPr>
          <a:xfrm>
            <a:off x="2560320" y="43434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Extracción</a:t>
            </a:r>
            <a:endParaRPr lang="en-US" sz="800" dirty="0"/>
          </a:p>
        </p:txBody>
      </p:sp>
      <p:sp>
        <p:nvSpPr>
          <p:cNvPr id="59" name="Shape 49"/>
          <p:cNvSpPr/>
          <p:nvPr/>
        </p:nvSpPr>
        <p:spPr>
          <a:xfrm>
            <a:off x="2980944" y="3986784"/>
            <a:ext cx="159105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60" name="Shape 50"/>
          <p:cNvSpPr/>
          <p:nvPr/>
        </p:nvSpPr>
        <p:spPr>
          <a:xfrm>
            <a:off x="2935224" y="394106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5989320" y="3611880"/>
            <a:ext cx="658368" cy="749808"/>
          </a:xfrm>
          <a:prstGeom prst="rect">
            <a:avLst/>
          </a:prstGeom>
          <a:solidFill>
            <a:srgbClr val="2A1F10"/>
          </a:solidFill>
          <a:ln w="1905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5624" y="3703320"/>
            <a:ext cx="365760" cy="365760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5897880" y="411480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Máquina 3</a:t>
            </a:r>
            <a:endParaRPr lang="en-US" sz="950" dirty="0"/>
          </a:p>
        </p:txBody>
      </p:sp>
      <p:sp>
        <p:nvSpPr>
          <p:cNvPr id="64" name="Text 53"/>
          <p:cNvSpPr/>
          <p:nvPr/>
        </p:nvSpPr>
        <p:spPr>
          <a:xfrm>
            <a:off x="5897880" y="434340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Extracción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4572000" y="3986784"/>
            <a:ext cx="174650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none"/>
          </a:ln>
        </p:spPr>
      </p:sp>
      <p:sp>
        <p:nvSpPr>
          <p:cNvPr id="66" name="Shape 55"/>
          <p:cNvSpPr/>
          <p:nvPr/>
        </p:nvSpPr>
        <p:spPr>
          <a:xfrm>
            <a:off x="6272784" y="3941064"/>
            <a:ext cx="91440" cy="914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6903720" y="3611880"/>
            <a:ext cx="658368" cy="749808"/>
          </a:xfrm>
          <a:prstGeom prst="rect">
            <a:avLst/>
          </a:prstGeom>
          <a:solidFill>
            <a:srgbClr val="2A201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3703320"/>
            <a:ext cx="347472" cy="347472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812280" y="4096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Tablet 1</a:t>
            </a:r>
            <a:endParaRPr lang="en-US" sz="950" dirty="0"/>
          </a:p>
        </p:txBody>
      </p:sp>
      <p:sp>
        <p:nvSpPr>
          <p:cNvPr id="70" name="Text 58"/>
          <p:cNvSpPr/>
          <p:nvPr/>
        </p:nvSpPr>
        <p:spPr>
          <a:xfrm>
            <a:off x="6812280" y="43251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Captura</a:t>
            </a:r>
            <a:endParaRPr lang="en-US" sz="800" dirty="0"/>
          </a:p>
        </p:txBody>
      </p:sp>
      <p:sp>
        <p:nvSpPr>
          <p:cNvPr id="71" name="Shape 59"/>
          <p:cNvSpPr/>
          <p:nvPr/>
        </p:nvSpPr>
        <p:spPr>
          <a:xfrm>
            <a:off x="4572000" y="3986784"/>
            <a:ext cx="266090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headEnd type="none"/>
            <a:tailEnd type="none"/>
          </a:ln>
        </p:spPr>
      </p:sp>
      <p:sp>
        <p:nvSpPr>
          <p:cNvPr id="72" name="Shape 60"/>
          <p:cNvSpPr/>
          <p:nvPr/>
        </p:nvSpPr>
        <p:spPr>
          <a:xfrm>
            <a:off x="7187184" y="39410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7818120" y="3611880"/>
            <a:ext cx="658368" cy="749808"/>
          </a:xfrm>
          <a:prstGeom prst="rect">
            <a:avLst/>
          </a:prstGeom>
          <a:solidFill>
            <a:srgbClr val="2A201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3568" y="3703320"/>
            <a:ext cx="347472" cy="347472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7726680" y="40965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FAFC"/>
                </a:solidFill>
              </a:rPr>
              <a:t>Tablet 2</a:t>
            </a:r>
            <a:endParaRPr lang="en-US" sz="950" dirty="0"/>
          </a:p>
        </p:txBody>
      </p:sp>
      <p:sp>
        <p:nvSpPr>
          <p:cNvPr id="76" name="Text 63"/>
          <p:cNvSpPr/>
          <p:nvPr/>
        </p:nvSpPr>
        <p:spPr>
          <a:xfrm>
            <a:off x="7726680" y="43251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Captura</a:t>
            </a:r>
            <a:endParaRPr lang="en-US" sz="800" dirty="0"/>
          </a:p>
        </p:txBody>
      </p:sp>
      <p:sp>
        <p:nvSpPr>
          <p:cNvPr id="77" name="Shape 64"/>
          <p:cNvSpPr/>
          <p:nvPr/>
        </p:nvSpPr>
        <p:spPr>
          <a:xfrm>
            <a:off x="4572000" y="3986784"/>
            <a:ext cx="357530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headEnd type="none"/>
            <a:tailEnd type="none"/>
          </a:ln>
        </p:spPr>
      </p:sp>
      <p:sp>
        <p:nvSpPr>
          <p:cNvPr id="78" name="Shape 65"/>
          <p:cNvSpPr/>
          <p:nvPr/>
        </p:nvSpPr>
        <p:spPr>
          <a:xfrm>
            <a:off x="8101584" y="39410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365760" y="4965192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0" name="Text 67"/>
          <p:cNvSpPr/>
          <p:nvPr/>
        </p:nvSpPr>
        <p:spPr>
          <a:xfrm>
            <a:off x="53035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Servidor Central</a:t>
            </a:r>
            <a:endParaRPr lang="en-US" sz="750" dirty="0"/>
          </a:p>
        </p:txBody>
      </p:sp>
      <p:sp>
        <p:nvSpPr>
          <p:cNvPr id="81" name="Shape 68"/>
          <p:cNvSpPr/>
          <p:nvPr/>
        </p:nvSpPr>
        <p:spPr>
          <a:xfrm>
            <a:off x="1783080" y="4965192"/>
            <a:ext cx="128016" cy="128016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2" name="Text 69"/>
          <p:cNvSpPr/>
          <p:nvPr/>
        </p:nvSpPr>
        <p:spPr>
          <a:xfrm>
            <a:off x="194767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Servidores Secundarios</a:t>
            </a:r>
            <a:endParaRPr lang="en-US" sz="750" dirty="0"/>
          </a:p>
        </p:txBody>
      </p:sp>
      <p:sp>
        <p:nvSpPr>
          <p:cNvPr id="83" name="Shape 70"/>
          <p:cNvSpPr/>
          <p:nvPr/>
        </p:nvSpPr>
        <p:spPr>
          <a:xfrm>
            <a:off x="3200400" y="49651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71"/>
          <p:cNvSpPr/>
          <p:nvPr/>
        </p:nvSpPr>
        <p:spPr>
          <a:xfrm>
            <a:off x="336499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Base de Datos</a:t>
            </a:r>
            <a:endParaRPr lang="en-US" sz="750" dirty="0"/>
          </a:p>
        </p:txBody>
      </p:sp>
      <p:sp>
        <p:nvSpPr>
          <p:cNvPr id="85" name="Shape 72"/>
          <p:cNvSpPr/>
          <p:nvPr/>
        </p:nvSpPr>
        <p:spPr>
          <a:xfrm>
            <a:off x="4617720" y="496519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73"/>
          <p:cNvSpPr/>
          <p:nvPr/>
        </p:nvSpPr>
        <p:spPr>
          <a:xfrm>
            <a:off x="478231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Máquinas de Extracción</a:t>
            </a:r>
            <a:endParaRPr lang="en-US" sz="750" dirty="0"/>
          </a:p>
        </p:txBody>
      </p:sp>
      <p:sp>
        <p:nvSpPr>
          <p:cNvPr id="87" name="Shape 74"/>
          <p:cNvSpPr/>
          <p:nvPr/>
        </p:nvSpPr>
        <p:spPr>
          <a:xfrm>
            <a:off x="6035040" y="49651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8" name="Text 75"/>
          <p:cNvSpPr/>
          <p:nvPr/>
        </p:nvSpPr>
        <p:spPr>
          <a:xfrm>
            <a:off x="619963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Tablets (captura)</a:t>
            </a:r>
            <a:endParaRPr lang="en-US" sz="750" dirty="0"/>
          </a:p>
        </p:txBody>
      </p:sp>
      <p:sp>
        <p:nvSpPr>
          <p:cNvPr id="89" name="Shape 76"/>
          <p:cNvSpPr/>
          <p:nvPr/>
        </p:nvSpPr>
        <p:spPr>
          <a:xfrm>
            <a:off x="7452360" y="4965192"/>
            <a:ext cx="128016" cy="12801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77"/>
          <p:cNvSpPr/>
          <p:nvPr/>
        </p:nvSpPr>
        <p:spPr>
          <a:xfrm>
            <a:off x="7616952" y="491947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Red de Máquinas / Enlace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MES - Arquitectura Fullstack</dc:title>
  <dc:subject>PptxGenJS Presentation</dc:subject>
  <dc:creator>PptxGenJS</dc:creator>
  <cp:lastModifiedBy>PptxGenJS</cp:lastModifiedBy>
  <cp:revision>1</cp:revision>
  <dcterms:created xsi:type="dcterms:W3CDTF">2026-05-06T03:10:05Z</dcterms:created>
  <dcterms:modified xsi:type="dcterms:W3CDTF">2026-05-06T03:10:05Z</dcterms:modified>
</cp:coreProperties>
</file>